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米国HTSコード判定支援ツール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6F1FB"/>
                </a:solidFill>
                <a:latin typeface="Meiryo"/>
              </a:rPr>
              <a:t>商品画像からHTS分類候補を自動提示 ― 業務効率化と分類品質の両立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eiryo"/>
              </a:rPr>
              <a:t>経営メンバー向け 説明資料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解決したい課題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なぜこのツールが必要か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41"/>
                </a:solidFill>
                <a:latin typeface="Meiryo"/>
              </a:rPr>
              <a:t>米国向け輸出のHTS（関税分類）コード特定は、専門性が高く負荷の大きい業務です。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0440" cy="24688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520440" cy="635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C447C"/>
                </a:solidFill>
                <a:latin typeface="Meiryo"/>
              </a:rPr>
              <a:t>専門知識への依存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10桁のHTSコード特定には関税分類の知識が必要。担当者が限られ属人化している。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19" y="2194560"/>
            <a:ext cx="3520440" cy="24688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2194560"/>
            <a:ext cx="3520440" cy="635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24688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C447C"/>
                </a:solidFill>
                <a:latin typeface="Meiryo"/>
              </a:rPr>
              <a:t>時間がかかる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20040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1品目ごとに分類根拠を調べる手作業。商品点数が多いほど工数が膨らむ。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8" y="2194560"/>
            <a:ext cx="3520440" cy="24688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8" y="2194560"/>
            <a:ext cx="3520440" cy="635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24688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C447C"/>
                </a:solidFill>
                <a:latin typeface="Meiryo"/>
              </a:rPr>
              <a:t>品質のばらつき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320040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担当者・状況により分類判断がぶれやすく、誤分類は通関リスクにつながる。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ソリューション概要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AIが分類候補を提示し、最終判断は担当者が行う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441"/>
                </a:solidFill>
                <a:latin typeface="Meiryo"/>
              </a:rPr>
              <a:t>商品画像を主たる判断材料、テキスト情報（品名・材質・用途）を補助として、AIがHTSコード候補を自動提示します。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27000" cy="54864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44441"/>
                </a:solidFill>
                <a:latin typeface="Meiryo"/>
              </a:rPr>
              <a:t>画像を主・テキストを補助　― 現物写真からAIが商品特徴を抽出。品名等のテキストで精度を補う。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99232"/>
            <a:ext cx="127000" cy="54864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44441"/>
                </a:solidFill>
                <a:latin typeface="Meiryo"/>
              </a:rPr>
              <a:t>最大10件を同時処理　― 複数商品の画像をまとめてアップロードし、並行して一括判定。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12464"/>
            <a:ext cx="127000" cy="54864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44441"/>
                </a:solidFill>
                <a:latin typeface="Meiryo"/>
              </a:rPr>
              <a:t>候補＋日本語説明を提示　― HTSコード候補を根拠つきで複数提示。日本語の品目説明も表示。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25696"/>
            <a:ext cx="127000" cy="54864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7997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44441"/>
                </a:solidFill>
                <a:latin typeface="Meiryo"/>
              </a:rPr>
              <a:t>結果をExcel出力　― 採用コード・説明・メモを一覧でExcel出力し、業務に連携。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138928"/>
            <a:ext cx="127000" cy="54864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932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44441"/>
                </a:solidFill>
                <a:latin typeface="Meiryo"/>
              </a:rPr>
              <a:t>最終確認は人が実施　― AIはあくまで支援。採用は担当者が選択・確定する運用。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使い方はシンプル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3ステップで分類候補を取得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383280" cy="237744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2606040"/>
            <a:ext cx="731520" cy="73152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6517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C447C"/>
                </a:solidFill>
                <a:latin typeface="Meiryo"/>
              </a:rPr>
              <a:t>画像をアップロード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商品写真（最大10枚）を選択。必要に応じ品名等を入力。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1089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A6EB5"/>
                </a:solidFill>
                <a:latin typeface="Meiryo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377440"/>
            <a:ext cx="3383280" cy="237744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2606040"/>
            <a:ext cx="731520" cy="73152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6517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520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C447C"/>
                </a:solidFill>
                <a:latin typeface="Meiryo"/>
              </a:rPr>
              <a:t>AIが自動判定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0233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画像を解析し、対象の章を推定。HTSコード候補を算出。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1089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A6EB5"/>
                </a:solidFill>
                <a:latin typeface="Meiryo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377440"/>
            <a:ext cx="3383280" cy="237744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2606040"/>
            <a:ext cx="731520" cy="73152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6517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C447C"/>
                </a:solidFill>
                <a:latin typeface="Meiryo"/>
              </a:rPr>
              <a:t>確認してExcel出力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担当者が候補から採用を選択。一覧をExcelで保存。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効果① 業務効率・生産性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手作業からの転換で工数と属人化を削減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383280" cy="173736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447C"/>
                </a:solidFill>
                <a:latin typeface="Meiryo"/>
              </a:rPr>
              <a:t>最大10件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同時一括判定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83280" cy="173736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447C"/>
                </a:solidFill>
                <a:latin typeface="Meiryo"/>
              </a:rPr>
              <a:t>数秒〜十数秒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3347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1件あたりの目安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383280" cy="173736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2763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447C"/>
                </a:solidFill>
                <a:latin typeface="Meiryo"/>
              </a:rPr>
              <a:t>22章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3347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対応カテゴリ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935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観点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593592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従来（手作業）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593592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本ツール導入後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C447C"/>
                </a:solidFill>
                <a:latin typeface="Meiryo"/>
              </a:rPr>
              <a:t>分類の着手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06908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都度ゼロから調査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06908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B6D11"/>
                </a:solidFill>
                <a:latin typeface="Meiryo"/>
              </a:rPr>
              <a:t>AIが候補を即提示 → 確認から開始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10881360" cy="50292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C447C"/>
                </a:solidFill>
                <a:latin typeface="Meiryo"/>
              </a:rPr>
              <a:t>処理スピード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57200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1件ずつ手作業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57200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B6D11"/>
                </a:solidFill>
                <a:latin typeface="Meiryo"/>
              </a:rPr>
              <a:t>複数画像を並行処理・一括出力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C447C"/>
                </a:solidFill>
                <a:latin typeface="Meiryo"/>
              </a:rPr>
              <a:t>属人化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074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特定担当に依存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507492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B6D11"/>
                </a:solidFill>
                <a:latin typeface="Meiryo"/>
              </a:rPr>
              <a:t>誰でも同じ手順で候補取得 → 確認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778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C447C"/>
                </a:solidFill>
                <a:latin typeface="Meiryo"/>
              </a:rPr>
              <a:t>記録・連携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57784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個別に手入力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57784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B6D11"/>
                </a:solidFill>
                <a:latin typeface="Meiryo"/>
              </a:rPr>
              <a:t>Excelで一覧出力し業務に連携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効果② 精度・品質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誤分類を抑え、最終判断は人が担保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8686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6200" cy="86868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C447C"/>
                </a:solidFill>
                <a:latin typeface="Meiryo"/>
              </a:rPr>
              <a:t>ヒューマン・イン・ザ・ループ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AIは候補提示まで。採用は必ず担当者が確認・確定する運用で、誤りをそのまま通さない。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10881360" cy="8686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76200" cy="86868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C447C"/>
                </a:solidFill>
                <a:latin typeface="Meiryo"/>
              </a:rPr>
              <a:t>日本語での根拠表示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HTSの英語説明に対応する日本語訳（5,500件超）を表示し、確認を容易に。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10881360" cy="8686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76200" cy="86868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C447C"/>
                </a:solidFill>
                <a:latin typeface="Meiryo"/>
              </a:rPr>
              <a:t>誤分類パターンへの対策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紛らわしい品目（例：カッティングマット）の誤判定を是正するルールを組み込み済み。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10881360" cy="8686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76200" cy="86868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C447C"/>
                </a:solidFill>
                <a:latin typeface="Meiryo"/>
              </a:rPr>
              <a:t>規制品の注意喚起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CPSC（米国消費者製品安全）対象の可能性がある品目に警告を表示。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394960"/>
            <a:ext cx="76200" cy="86868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C447C"/>
                </a:solidFill>
                <a:latin typeface="Meiryo"/>
              </a:rPr>
              <a:t>複数候補の提示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521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1位だけでなく次点候補も提示し、担当者の判断材料を増やす。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効果③ コスト効果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低単価＋削減の仕組みで運用コストを最小化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383280" cy="155448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447C"/>
                </a:solidFill>
                <a:latin typeface="Meiryo"/>
              </a:rPr>
              <a:t>約 ¥1.8〜3.6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0487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1件あたり（参考）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3383280" cy="155448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8191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447C"/>
                </a:solidFill>
                <a:latin typeface="Meiryo"/>
              </a:rPr>
              <a:t>約 ¥540〜1,080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0487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300件の試算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383280" cy="155448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8191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B6D11"/>
                </a:solidFill>
                <a:latin typeface="Meiryo"/>
              </a:rPr>
              <a:t>¥0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0487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再判定（キャッシュ時）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C447C"/>
                </a:solidFill>
                <a:latin typeface="Meiryo"/>
              </a:rPr>
              <a:t>コストを抑える3つの仕組み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127000" cy="64008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393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447C"/>
                </a:solidFill>
                <a:latin typeface="Meiryo"/>
              </a:rPr>
              <a:t>結果の再利用（キャッシュ）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867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一度判定した画像・分析結果は再利用し、API費用をかけずに即時応答。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98848"/>
            <a:ext cx="127000" cy="64008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447C"/>
                </a:solidFill>
                <a:latin typeface="Meiryo"/>
              </a:rPr>
              <a:t>画像の自動圧縮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2803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送信前に画像を縮小し、AI処理コスト（画像分）を大幅に削減。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40096"/>
            <a:ext cx="127000" cy="64008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447C"/>
                </a:solidFill>
                <a:latin typeface="Meiryo"/>
              </a:rPr>
              <a:t>無料テストモード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441"/>
                </a:solidFill>
                <a:latin typeface="Meiryo"/>
              </a:rPr>
              <a:t>費用ゼロで操作・動作検証が可能。本格運用前の習熟・教育に活用。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※ 単価は為替・利用状況により変動。最終確認の人件費を含まないAI処理費用の概算。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現状と今後の展開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F1FB"/>
                </a:solidFill>
                <a:latin typeface="Meiryo"/>
              </a:rPr>
              <a:t>段階的に拡大できる状態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03520" cy="420624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C447C"/>
                </a:solidFill>
                <a:latin typeface="Meiryo"/>
              </a:rPr>
              <a:t>現在の状態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社内テスト・無料デモを公開URLで提供可能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22章・HTS説明の日本語化を整備済み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コスト削減の仕組み（キャッシュ・圧縮）実装済み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現状は処理速度に上限あり（小規模利用向け設定）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03520" cy="4206240"/>
          </a:xfrm>
          <a:prstGeom prst="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C447C"/>
                </a:solidFill>
                <a:latin typeface="Meiryo"/>
              </a:rPr>
              <a:t>今後のステップ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現場テストで精度・運用性を確認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処理上限の引き上げ（本格運用時）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対象カテゴリ・拠点の拡大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441"/>
                </a:solidFill>
                <a:latin typeface="Meiryo"/>
              </a:rPr>
              <a:t>•  業務システムとの連携強化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米国HTSコード判定支援ツール ｜ 社内説明資料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88780"/>
                </a:solidFill>
                <a:latin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508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2377440" cy="9144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業務効率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2860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"/>
              </a:rPr>
              <a:t>専門業務をAIが支援し、属人化を解消。最大10件同時・Excel連携で工数削減。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337560"/>
            <a:ext cx="2377440" cy="9144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935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品質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4290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"/>
              </a:rPr>
              <a:t>日本語根拠・誤分類対策・規制警告を備え、最終判断は人が担保。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480560"/>
            <a:ext cx="2377440" cy="914400"/>
          </a:xfrm>
          <a:prstGeom prst="rect">
            <a:avLst/>
          </a:prstGeom>
          <a:solidFill>
            <a:srgbClr val="1A6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365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5720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"/>
              </a:rPr>
              <a:t>1件あたり数円規模。キャッシュ・圧縮・無料テストで運用コストを最小化。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6F1FB"/>
                </a:solidFill>
                <a:latin typeface="Meiryo"/>
              </a:rPr>
              <a:t>AIが「候補」を出し、人が「決める」― 効率と品質を両立する分類支援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